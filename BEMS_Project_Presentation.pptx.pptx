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96" r:id="rId2"/>
    <p:sldId id="305" r:id="rId3"/>
    <p:sldId id="306" r:id="rId4"/>
    <p:sldId id="307" r:id="rId5"/>
    <p:sldId id="308" r:id="rId6"/>
    <p:sldId id="309" r:id="rId7"/>
    <p:sldId id="310" r:id="rId8"/>
    <p:sldId id="311" r:id="rId9"/>
    <p:sldId id="312" r:id="rId10"/>
    <p:sldId id="313" r:id="rId11"/>
    <p:sldId id="314" r:id="rId12"/>
    <p:sldId id="315" r:id="rId13"/>
    <p:sldId id="316" r:id="rId14"/>
    <p:sldId id="327" r:id="rId15"/>
    <p:sldId id="325" r:id="rId16"/>
    <p:sldId id="328" r:id="rId17"/>
    <p:sldId id="326" r:id="rId18"/>
    <p:sldId id="318" r:id="rId19"/>
    <p:sldId id="322" r:id="rId20"/>
    <p:sldId id="323" r:id="rId21"/>
    <p:sldId id="321" r:id="rId22"/>
    <p:sldId id="319" r:id="rId23"/>
    <p:sldId id="320" r:id="rId24"/>
    <p:sldId id="29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p:cViewPr>
        <p:scale>
          <a:sx n="66" d="100"/>
          <a:sy n="66" d="100"/>
        </p:scale>
        <p:origin x="2069" y="2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 .C" userId="c48d01b54bfc2986" providerId="LiveId" clId="{3031890D-022C-44F8-B631-52C7BB3A387C}"/>
    <pc:docChg chg="undo custSel modSld">
      <pc:chgData name="Poojitha .C" userId="c48d01b54bfc2986" providerId="LiveId" clId="{3031890D-022C-44F8-B631-52C7BB3A387C}" dt="2026-03-18T12:13:58.428" v="29" actId="2711"/>
      <pc:docMkLst>
        <pc:docMk/>
      </pc:docMkLst>
      <pc:sldChg chg="modSp mod">
        <pc:chgData name="Poojitha .C" userId="c48d01b54bfc2986" providerId="LiveId" clId="{3031890D-022C-44F8-B631-52C7BB3A387C}" dt="2026-03-18T12:13:58.428" v="29" actId="2711"/>
        <pc:sldMkLst>
          <pc:docMk/>
          <pc:sldMk cId="3112408762" sldId="305"/>
        </pc:sldMkLst>
        <pc:spChg chg="mod">
          <ac:chgData name="Poojitha .C" userId="c48d01b54bfc2986" providerId="LiveId" clId="{3031890D-022C-44F8-B631-52C7BB3A387C}" dt="2026-03-18T12:13:58.428" v="29" actId="2711"/>
          <ac:spMkLst>
            <pc:docMk/>
            <pc:sldMk cId="3112408762" sldId="305"/>
            <ac:spMk id="2" creationId="{00000000-0000-0000-0000-000000000000}"/>
          </ac:spMkLst>
        </pc:spChg>
      </pc:sldChg>
      <pc:sldChg chg="modSp mod">
        <pc:chgData name="Poojitha .C" userId="c48d01b54bfc2986" providerId="LiveId" clId="{3031890D-022C-44F8-B631-52C7BB3A387C}" dt="2026-03-18T12:13:49.146" v="28" actId="2711"/>
        <pc:sldMkLst>
          <pc:docMk/>
          <pc:sldMk cId="1582823894" sldId="306"/>
        </pc:sldMkLst>
        <pc:spChg chg="mod">
          <ac:chgData name="Poojitha .C" userId="c48d01b54bfc2986" providerId="LiveId" clId="{3031890D-022C-44F8-B631-52C7BB3A387C}" dt="2026-03-18T12:13:49.146" v="28" actId="2711"/>
          <ac:spMkLst>
            <pc:docMk/>
            <pc:sldMk cId="1582823894" sldId="306"/>
            <ac:spMk id="2" creationId="{00000000-0000-0000-0000-000000000000}"/>
          </ac:spMkLst>
        </pc:spChg>
      </pc:sldChg>
      <pc:sldChg chg="modSp mod">
        <pc:chgData name="Poojitha .C" userId="c48d01b54bfc2986" providerId="LiveId" clId="{3031890D-022C-44F8-B631-52C7BB3A387C}" dt="2026-03-18T12:13:31.127" v="27" actId="2711"/>
        <pc:sldMkLst>
          <pc:docMk/>
          <pc:sldMk cId="2712522348" sldId="307"/>
        </pc:sldMkLst>
        <pc:spChg chg="mod">
          <ac:chgData name="Poojitha .C" userId="c48d01b54bfc2986" providerId="LiveId" clId="{3031890D-022C-44F8-B631-52C7BB3A387C}" dt="2026-03-18T12:13:31.127" v="27" actId="2711"/>
          <ac:spMkLst>
            <pc:docMk/>
            <pc:sldMk cId="2712522348" sldId="307"/>
            <ac:spMk id="2" creationId="{00000000-0000-0000-0000-000000000000}"/>
          </ac:spMkLst>
        </pc:spChg>
      </pc:sldChg>
      <pc:sldChg chg="modSp mod">
        <pc:chgData name="Poojitha .C" userId="c48d01b54bfc2986" providerId="LiveId" clId="{3031890D-022C-44F8-B631-52C7BB3A387C}" dt="2026-03-18T12:13:11.685" v="26" actId="2711"/>
        <pc:sldMkLst>
          <pc:docMk/>
          <pc:sldMk cId="2608149480" sldId="308"/>
        </pc:sldMkLst>
        <pc:spChg chg="mod">
          <ac:chgData name="Poojitha .C" userId="c48d01b54bfc2986" providerId="LiveId" clId="{3031890D-022C-44F8-B631-52C7BB3A387C}" dt="2026-03-18T12:13:11.685" v="26" actId="2711"/>
          <ac:spMkLst>
            <pc:docMk/>
            <pc:sldMk cId="2608149480" sldId="308"/>
            <ac:spMk id="2" creationId="{00000000-0000-0000-0000-000000000000}"/>
          </ac:spMkLst>
        </pc:spChg>
      </pc:sldChg>
      <pc:sldChg chg="modSp mod">
        <pc:chgData name="Poojitha .C" userId="c48d01b54bfc2986" providerId="LiveId" clId="{3031890D-022C-44F8-B631-52C7BB3A387C}" dt="2026-03-18T12:12:58.165" v="25" actId="2711"/>
        <pc:sldMkLst>
          <pc:docMk/>
          <pc:sldMk cId="1903410958" sldId="309"/>
        </pc:sldMkLst>
        <pc:spChg chg="mod">
          <ac:chgData name="Poojitha .C" userId="c48d01b54bfc2986" providerId="LiveId" clId="{3031890D-022C-44F8-B631-52C7BB3A387C}" dt="2026-03-18T12:12:58.165" v="25" actId="2711"/>
          <ac:spMkLst>
            <pc:docMk/>
            <pc:sldMk cId="1903410958" sldId="309"/>
            <ac:spMk id="2" creationId="{00000000-0000-0000-0000-000000000000}"/>
          </ac:spMkLst>
        </pc:spChg>
      </pc:sldChg>
      <pc:sldChg chg="modSp mod">
        <pc:chgData name="Poojitha .C" userId="c48d01b54bfc2986" providerId="LiveId" clId="{3031890D-022C-44F8-B631-52C7BB3A387C}" dt="2026-03-18T12:12:50.983" v="24" actId="2711"/>
        <pc:sldMkLst>
          <pc:docMk/>
          <pc:sldMk cId="2792640325" sldId="310"/>
        </pc:sldMkLst>
        <pc:spChg chg="mod">
          <ac:chgData name="Poojitha .C" userId="c48d01b54bfc2986" providerId="LiveId" clId="{3031890D-022C-44F8-B631-52C7BB3A387C}" dt="2026-03-18T12:12:50.983" v="24" actId="2711"/>
          <ac:spMkLst>
            <pc:docMk/>
            <pc:sldMk cId="2792640325" sldId="310"/>
            <ac:spMk id="2" creationId="{00000000-0000-0000-0000-000000000000}"/>
          </ac:spMkLst>
        </pc:spChg>
      </pc:sldChg>
      <pc:sldChg chg="modSp mod">
        <pc:chgData name="Poojitha .C" userId="c48d01b54bfc2986" providerId="LiveId" clId="{3031890D-022C-44F8-B631-52C7BB3A387C}" dt="2026-03-18T12:12:43.663" v="23" actId="255"/>
        <pc:sldMkLst>
          <pc:docMk/>
          <pc:sldMk cId="443906532" sldId="311"/>
        </pc:sldMkLst>
        <pc:spChg chg="mod">
          <ac:chgData name="Poojitha .C" userId="c48d01b54bfc2986" providerId="LiveId" clId="{3031890D-022C-44F8-B631-52C7BB3A387C}" dt="2026-03-18T12:12:43.663" v="23" actId="255"/>
          <ac:spMkLst>
            <pc:docMk/>
            <pc:sldMk cId="443906532" sldId="311"/>
            <ac:spMk id="2" creationId="{00000000-0000-0000-0000-000000000000}"/>
          </ac:spMkLst>
        </pc:spChg>
      </pc:sldChg>
      <pc:sldChg chg="modSp mod">
        <pc:chgData name="Poojitha .C" userId="c48d01b54bfc2986" providerId="LiveId" clId="{3031890D-022C-44F8-B631-52C7BB3A387C}" dt="2026-03-18T12:12:30.581" v="21" actId="2711"/>
        <pc:sldMkLst>
          <pc:docMk/>
          <pc:sldMk cId="663873597" sldId="312"/>
        </pc:sldMkLst>
        <pc:spChg chg="mod">
          <ac:chgData name="Poojitha .C" userId="c48d01b54bfc2986" providerId="LiveId" clId="{3031890D-022C-44F8-B631-52C7BB3A387C}" dt="2026-03-18T12:12:30.581" v="21" actId="2711"/>
          <ac:spMkLst>
            <pc:docMk/>
            <pc:sldMk cId="663873597" sldId="312"/>
            <ac:spMk id="2" creationId="{00000000-0000-0000-0000-000000000000}"/>
          </ac:spMkLst>
        </pc:spChg>
      </pc:sldChg>
      <pc:sldChg chg="modSp mod">
        <pc:chgData name="Poojitha .C" userId="c48d01b54bfc2986" providerId="LiveId" clId="{3031890D-022C-44F8-B631-52C7BB3A387C}" dt="2026-03-18T12:12:24.370" v="20" actId="2711"/>
        <pc:sldMkLst>
          <pc:docMk/>
          <pc:sldMk cId="1731182575" sldId="313"/>
        </pc:sldMkLst>
        <pc:spChg chg="mod">
          <ac:chgData name="Poojitha .C" userId="c48d01b54bfc2986" providerId="LiveId" clId="{3031890D-022C-44F8-B631-52C7BB3A387C}" dt="2026-03-18T12:12:24.370" v="20" actId="2711"/>
          <ac:spMkLst>
            <pc:docMk/>
            <pc:sldMk cId="1731182575" sldId="313"/>
            <ac:spMk id="2" creationId="{00000000-0000-0000-0000-000000000000}"/>
          </ac:spMkLst>
        </pc:spChg>
      </pc:sldChg>
      <pc:sldChg chg="modSp mod">
        <pc:chgData name="Poojitha .C" userId="c48d01b54bfc2986" providerId="LiveId" clId="{3031890D-022C-44F8-B631-52C7BB3A387C}" dt="2026-03-18T12:12:17.548" v="19" actId="2711"/>
        <pc:sldMkLst>
          <pc:docMk/>
          <pc:sldMk cId="1523708175" sldId="314"/>
        </pc:sldMkLst>
        <pc:spChg chg="mod">
          <ac:chgData name="Poojitha .C" userId="c48d01b54bfc2986" providerId="LiveId" clId="{3031890D-022C-44F8-B631-52C7BB3A387C}" dt="2026-03-18T12:12:17.548" v="19" actId="2711"/>
          <ac:spMkLst>
            <pc:docMk/>
            <pc:sldMk cId="1523708175" sldId="314"/>
            <ac:spMk id="2" creationId="{00000000-0000-0000-0000-000000000000}"/>
          </ac:spMkLst>
        </pc:spChg>
      </pc:sldChg>
      <pc:sldChg chg="modSp mod">
        <pc:chgData name="Poojitha .C" userId="c48d01b54bfc2986" providerId="LiveId" clId="{3031890D-022C-44F8-B631-52C7BB3A387C}" dt="2026-03-18T12:12:10.400" v="18" actId="2711"/>
        <pc:sldMkLst>
          <pc:docMk/>
          <pc:sldMk cId="3011543838" sldId="315"/>
        </pc:sldMkLst>
        <pc:spChg chg="mod">
          <ac:chgData name="Poojitha .C" userId="c48d01b54bfc2986" providerId="LiveId" clId="{3031890D-022C-44F8-B631-52C7BB3A387C}" dt="2026-03-18T12:12:10.400" v="18" actId="2711"/>
          <ac:spMkLst>
            <pc:docMk/>
            <pc:sldMk cId="3011543838" sldId="315"/>
            <ac:spMk id="2" creationId="{DDD30921-2DE6-457F-1D88-1FA8E4FB1BAD}"/>
          </ac:spMkLst>
        </pc:spChg>
      </pc:sldChg>
      <pc:sldChg chg="modSp mod">
        <pc:chgData name="Poojitha .C" userId="c48d01b54bfc2986" providerId="LiveId" clId="{3031890D-022C-44F8-B631-52C7BB3A387C}" dt="2026-03-18T12:12:03.119" v="17" actId="2711"/>
        <pc:sldMkLst>
          <pc:docMk/>
          <pc:sldMk cId="4246898610" sldId="316"/>
        </pc:sldMkLst>
        <pc:spChg chg="mod">
          <ac:chgData name="Poojitha .C" userId="c48d01b54bfc2986" providerId="LiveId" clId="{3031890D-022C-44F8-B631-52C7BB3A387C}" dt="2026-03-18T12:12:03.119" v="17" actId="2711"/>
          <ac:spMkLst>
            <pc:docMk/>
            <pc:sldMk cId="4246898610" sldId="316"/>
            <ac:spMk id="2" creationId="{41B60DEE-193F-66A1-21A8-509B361FD99E}"/>
          </ac:spMkLst>
        </pc:spChg>
      </pc:sldChg>
      <pc:sldChg chg="modSp mod">
        <pc:chgData name="Poojitha .C" userId="c48d01b54bfc2986" providerId="LiveId" clId="{3031890D-022C-44F8-B631-52C7BB3A387C}" dt="2026-03-18T12:11:52.117" v="16" actId="2711"/>
        <pc:sldMkLst>
          <pc:docMk/>
          <pc:sldMk cId="3015710332" sldId="318"/>
        </pc:sldMkLst>
        <pc:spChg chg="mod">
          <ac:chgData name="Poojitha .C" userId="c48d01b54bfc2986" providerId="LiveId" clId="{3031890D-022C-44F8-B631-52C7BB3A387C}" dt="2026-03-18T12:11:52.117" v="16" actId="2711"/>
          <ac:spMkLst>
            <pc:docMk/>
            <pc:sldMk cId="3015710332" sldId="318"/>
            <ac:spMk id="2" creationId="{25311DB4-6534-4C72-FD23-89827C148579}"/>
          </ac:spMkLst>
        </pc:spChg>
      </pc:sldChg>
      <pc:sldChg chg="modSp mod">
        <pc:chgData name="Poojitha .C" userId="c48d01b54bfc2986" providerId="LiveId" clId="{3031890D-022C-44F8-B631-52C7BB3A387C}" dt="2026-03-18T12:11:18.469" v="12" actId="2711"/>
        <pc:sldMkLst>
          <pc:docMk/>
          <pc:sldMk cId="4278358016" sldId="319"/>
        </pc:sldMkLst>
        <pc:spChg chg="mod">
          <ac:chgData name="Poojitha .C" userId="c48d01b54bfc2986" providerId="LiveId" clId="{3031890D-022C-44F8-B631-52C7BB3A387C}" dt="2026-03-18T12:11:18.469" v="12" actId="2711"/>
          <ac:spMkLst>
            <pc:docMk/>
            <pc:sldMk cId="4278358016" sldId="319"/>
            <ac:spMk id="2" creationId="{61B32097-5064-7E74-74FC-B1F5F0F6CBF3}"/>
          </ac:spMkLst>
        </pc:spChg>
      </pc:sldChg>
      <pc:sldChg chg="modSp mod">
        <pc:chgData name="Poojitha .C" userId="c48d01b54bfc2986" providerId="LiveId" clId="{3031890D-022C-44F8-B631-52C7BB3A387C}" dt="2026-03-18T12:11:10.090" v="11" actId="2711"/>
        <pc:sldMkLst>
          <pc:docMk/>
          <pc:sldMk cId="2169262497" sldId="320"/>
        </pc:sldMkLst>
        <pc:spChg chg="mod">
          <ac:chgData name="Poojitha .C" userId="c48d01b54bfc2986" providerId="LiveId" clId="{3031890D-022C-44F8-B631-52C7BB3A387C}" dt="2026-03-18T12:11:10.090" v="11" actId="2711"/>
          <ac:spMkLst>
            <pc:docMk/>
            <pc:sldMk cId="2169262497" sldId="320"/>
            <ac:spMk id="2" creationId="{52DA4234-9BCC-CD94-570B-D4990C7B24E9}"/>
          </ac:spMkLst>
        </pc:spChg>
      </pc:sldChg>
      <pc:sldChg chg="modSp mod">
        <pc:chgData name="Poojitha .C" userId="c48d01b54bfc2986" providerId="LiveId" clId="{3031890D-022C-44F8-B631-52C7BB3A387C}" dt="2026-03-18T12:11:27.160" v="13" actId="2711"/>
        <pc:sldMkLst>
          <pc:docMk/>
          <pc:sldMk cId="2994365590" sldId="321"/>
        </pc:sldMkLst>
        <pc:spChg chg="mod">
          <ac:chgData name="Poojitha .C" userId="c48d01b54bfc2986" providerId="LiveId" clId="{3031890D-022C-44F8-B631-52C7BB3A387C}" dt="2026-03-18T12:11:27.160" v="13" actId="2711"/>
          <ac:spMkLst>
            <pc:docMk/>
            <pc:sldMk cId="2994365590" sldId="321"/>
            <ac:spMk id="2" creationId="{C1DC4B66-4F35-B8FB-F3AB-2E2A14D00800}"/>
          </ac:spMkLst>
        </pc:spChg>
      </pc:sldChg>
      <pc:sldChg chg="modSp mod">
        <pc:chgData name="Poojitha .C" userId="c48d01b54bfc2986" providerId="LiveId" clId="{3031890D-022C-44F8-B631-52C7BB3A387C}" dt="2026-03-18T12:11:42.647" v="15" actId="2711"/>
        <pc:sldMkLst>
          <pc:docMk/>
          <pc:sldMk cId="1625152005" sldId="322"/>
        </pc:sldMkLst>
        <pc:spChg chg="mod">
          <ac:chgData name="Poojitha .C" userId="c48d01b54bfc2986" providerId="LiveId" clId="{3031890D-022C-44F8-B631-52C7BB3A387C}" dt="2026-03-18T12:11:42.647" v="15" actId="2711"/>
          <ac:spMkLst>
            <pc:docMk/>
            <pc:sldMk cId="1625152005" sldId="322"/>
            <ac:spMk id="2" creationId="{CEB61D74-7F56-82FC-A6D3-EDDEF4752519}"/>
          </ac:spMkLst>
        </pc:spChg>
      </pc:sldChg>
      <pc:sldChg chg="modSp mod">
        <pc:chgData name="Poojitha .C" userId="c48d01b54bfc2986" providerId="LiveId" clId="{3031890D-022C-44F8-B631-52C7BB3A387C}" dt="2026-03-18T12:11:35.984" v="14" actId="2711"/>
        <pc:sldMkLst>
          <pc:docMk/>
          <pc:sldMk cId="242850353" sldId="323"/>
        </pc:sldMkLst>
        <pc:spChg chg="mod">
          <ac:chgData name="Poojitha .C" userId="c48d01b54bfc2986" providerId="LiveId" clId="{3031890D-022C-44F8-B631-52C7BB3A387C}" dt="2026-03-18T12:11:35.984" v="14" actId="2711"/>
          <ac:spMkLst>
            <pc:docMk/>
            <pc:sldMk cId="242850353" sldId="323"/>
            <ac:spMk id="2" creationId="{C1540C59-94E8-CBD0-88AF-0EC7BB50C021}"/>
          </ac:spMkLst>
        </pc:spChg>
        <pc:picChg chg="mod modCrop">
          <ac:chgData name="Poojitha .C" userId="c48d01b54bfc2986" providerId="LiveId" clId="{3031890D-022C-44F8-B631-52C7BB3A387C}" dt="2026-03-18T12:06:49.973" v="0" actId="732"/>
          <ac:picMkLst>
            <pc:docMk/>
            <pc:sldMk cId="242850353" sldId="323"/>
            <ac:picMk id="5" creationId="{6CD52E4E-8491-CE91-AD49-6F04621A34E2}"/>
          </ac:picMkLst>
        </pc:picChg>
      </pc:sldChg>
      <pc:sldChg chg="modSp mod">
        <pc:chgData name="Poojitha .C" userId="c48d01b54bfc2986" providerId="LiveId" clId="{3031890D-022C-44F8-B631-52C7BB3A387C}" dt="2026-03-18T12:09:53.318" v="2" actId="255"/>
        <pc:sldMkLst>
          <pc:docMk/>
          <pc:sldMk cId="3078104108" sldId="325"/>
        </pc:sldMkLst>
        <pc:spChg chg="mod">
          <ac:chgData name="Poojitha .C" userId="c48d01b54bfc2986" providerId="LiveId" clId="{3031890D-022C-44F8-B631-52C7BB3A387C}" dt="2026-03-18T12:09:53.318" v="2" actId="255"/>
          <ac:spMkLst>
            <pc:docMk/>
            <pc:sldMk cId="3078104108" sldId="325"/>
            <ac:spMk id="2" creationId="{40692A42-83BC-C23F-70CC-092F69AF330C}"/>
          </ac:spMkLst>
        </pc:spChg>
      </pc:sldChg>
      <pc:sldChg chg="modSp mod">
        <pc:chgData name="Poojitha .C" userId="c48d01b54bfc2986" providerId="LiveId" clId="{3031890D-022C-44F8-B631-52C7BB3A387C}" dt="2026-03-18T12:10:09.502" v="4" actId="255"/>
        <pc:sldMkLst>
          <pc:docMk/>
          <pc:sldMk cId="1276425245" sldId="326"/>
        </pc:sldMkLst>
        <pc:spChg chg="mod">
          <ac:chgData name="Poojitha .C" userId="c48d01b54bfc2986" providerId="LiveId" clId="{3031890D-022C-44F8-B631-52C7BB3A387C}" dt="2026-03-18T12:10:09.502" v="4" actId="255"/>
          <ac:spMkLst>
            <pc:docMk/>
            <pc:sldMk cId="1276425245" sldId="326"/>
            <ac:spMk id="2" creationId="{C5262BE5-CDEE-3E07-D176-7E28E81A2972}"/>
          </ac:spMkLst>
        </pc:spChg>
      </pc:sldChg>
      <pc:sldChg chg="modSp mod">
        <pc:chgData name="Poojitha .C" userId="c48d01b54bfc2986" providerId="LiveId" clId="{3031890D-022C-44F8-B631-52C7BB3A387C}" dt="2026-03-18T12:09:47.565" v="1" actId="255"/>
        <pc:sldMkLst>
          <pc:docMk/>
          <pc:sldMk cId="3401832611" sldId="327"/>
        </pc:sldMkLst>
        <pc:spChg chg="mod">
          <ac:chgData name="Poojitha .C" userId="c48d01b54bfc2986" providerId="LiveId" clId="{3031890D-022C-44F8-B631-52C7BB3A387C}" dt="2026-03-18T12:09:47.565" v="1" actId="255"/>
          <ac:spMkLst>
            <pc:docMk/>
            <pc:sldMk cId="3401832611" sldId="327"/>
            <ac:spMk id="2" creationId="{7265E1EC-7AC1-80FB-5126-2918FD5CF9AE}"/>
          </ac:spMkLst>
        </pc:spChg>
      </pc:sldChg>
      <pc:sldChg chg="modSp mod">
        <pc:chgData name="Poojitha .C" userId="c48d01b54bfc2986" providerId="LiveId" clId="{3031890D-022C-44F8-B631-52C7BB3A387C}" dt="2026-03-18T12:10:01.737" v="3" actId="255"/>
        <pc:sldMkLst>
          <pc:docMk/>
          <pc:sldMk cId="3121829942" sldId="328"/>
        </pc:sldMkLst>
        <pc:spChg chg="mod">
          <ac:chgData name="Poojitha .C" userId="c48d01b54bfc2986" providerId="LiveId" clId="{3031890D-022C-44F8-B631-52C7BB3A387C}" dt="2026-03-18T12:10:01.737" v="3" actId="255"/>
          <ac:spMkLst>
            <pc:docMk/>
            <pc:sldMk cId="3121829942" sldId="328"/>
            <ac:spMk id="2" creationId="{EA971240-6F86-F401-6797-B311139122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t>3/18/2026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t>‹#›</a:t>
            </a:fld>
            <a:endParaRPr lang="en-US"/>
          </a:p>
        </p:txBody>
      </p:sp>
    </p:spTree>
    <p:extLst>
      <p:ext uri="{BB962C8B-B14F-4D97-AF65-F5344CB8AC3E}">
        <p14:creationId xmlns:p14="http://schemas.microsoft.com/office/powerpoint/2010/main" val="42474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20298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3/18/2026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3/18/2026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3/18/2026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3/18/2026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3/18/2026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47800"/>
          </a:xfrm>
        </p:spPr>
        <p:txBody>
          <a:bodyPr>
            <a:noAutofit/>
          </a:bodyPr>
          <a:lstStyle/>
          <a:p>
            <a:pPr algn="ctr"/>
            <a:r>
              <a:rPr lang="en-US" sz="2500" dirty="0"/>
              <a:t>Advanced Control and Analytical Study of Battery Energy </a:t>
            </a:r>
            <a:r>
              <a:rPr lang="en-US" sz="2800" dirty="0"/>
              <a:t>Management</a:t>
            </a:r>
            <a:r>
              <a:rPr lang="en-US" sz="2500" dirty="0"/>
              <a:t> Systems in Electric Vehicles using Machine Learning</a:t>
            </a:r>
          </a:p>
        </p:txBody>
      </p:sp>
      <p:sp>
        <p:nvSpPr>
          <p:cNvPr id="3" name="Content Placeholder 2"/>
          <p:cNvSpPr>
            <a:spLocks noGrp="1"/>
          </p:cNvSpPr>
          <p:nvPr>
            <p:ph sz="quarter" idx="1"/>
          </p:nvPr>
        </p:nvSpPr>
        <p:spPr>
          <a:xfrm>
            <a:off x="152400" y="1524000"/>
            <a:ext cx="8763000" cy="5334000"/>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5600" dirty="0"/>
              <a:t>Presented By:</a:t>
            </a:r>
            <a:endParaRPr lang="en-US" dirty="0"/>
          </a:p>
          <a:p>
            <a:pPr algn="ctr">
              <a:buNone/>
            </a:pPr>
            <a:r>
              <a:rPr lang="en-IN" sz="6400" dirty="0"/>
              <a:t> C POOJITHA                            </a:t>
            </a:r>
            <a:r>
              <a:rPr lang="en-US" sz="6400" b="1" dirty="0"/>
              <a:t>(</a:t>
            </a:r>
            <a:r>
              <a:rPr lang="en-IN" sz="6400" dirty="0"/>
              <a:t>23BFA33L05</a:t>
            </a:r>
            <a:r>
              <a:rPr lang="en-US" sz="6400" b="1" dirty="0"/>
              <a:t>)</a:t>
            </a:r>
          </a:p>
          <a:p>
            <a:pPr algn="ctr">
              <a:buNone/>
            </a:pPr>
            <a:r>
              <a:rPr lang="en-IN" sz="6400" dirty="0"/>
              <a:t>  M BHOOMIKA                          </a:t>
            </a:r>
            <a:r>
              <a:rPr lang="en-US" sz="6400" b="1" dirty="0"/>
              <a:t>(</a:t>
            </a:r>
            <a:r>
              <a:rPr lang="en-IN" sz="6400" dirty="0"/>
              <a:t>22BFA33165</a:t>
            </a:r>
            <a:r>
              <a:rPr lang="en-US" sz="6400" b="1" dirty="0"/>
              <a:t>)</a:t>
            </a:r>
          </a:p>
          <a:p>
            <a:pPr algn="ctr">
              <a:buNone/>
            </a:pPr>
            <a:r>
              <a:rPr lang="en-IN" sz="6400" dirty="0"/>
              <a:t>  KAVALI SATHYA VARSHINI         </a:t>
            </a:r>
            <a:r>
              <a:rPr lang="en-US" sz="6400" b="1" dirty="0"/>
              <a:t>(</a:t>
            </a:r>
            <a:r>
              <a:rPr lang="en-IN" sz="6400" dirty="0"/>
              <a:t>22BFA33154</a:t>
            </a:r>
            <a:r>
              <a:rPr lang="en-US" sz="6400" b="1" dirty="0"/>
              <a:t>)</a:t>
            </a:r>
          </a:p>
          <a:p>
            <a:pPr algn="ctr">
              <a:buNone/>
            </a:pPr>
            <a:r>
              <a:rPr lang="en-US" sz="6400" b="1" dirty="0"/>
              <a:t>  </a:t>
            </a:r>
            <a:r>
              <a:rPr lang="en-IN" sz="6400" dirty="0"/>
              <a:t>POTHA OMKAR                        </a:t>
            </a:r>
            <a:r>
              <a:rPr lang="en-US" sz="6400" b="1" dirty="0"/>
              <a:t>(</a:t>
            </a:r>
            <a:r>
              <a:rPr lang="en-IN" sz="6400" dirty="0"/>
              <a:t>22BFA33198</a:t>
            </a:r>
            <a:r>
              <a:rPr lang="en-US" sz="6400" b="1" dirty="0"/>
              <a:t>)</a:t>
            </a:r>
          </a:p>
          <a:p>
            <a:pPr algn="ctr">
              <a:buNone/>
            </a:pPr>
            <a:endParaRPr lang="en-US" sz="6400" dirty="0"/>
          </a:p>
          <a:p>
            <a:pPr algn="ctr">
              <a:buNone/>
            </a:pPr>
            <a:r>
              <a:rPr lang="en-US" sz="5600" b="1" dirty="0"/>
              <a:t>Under the guidance of</a:t>
            </a:r>
          </a:p>
          <a:p>
            <a:pPr algn="ctr">
              <a:buNone/>
            </a:pPr>
            <a:r>
              <a:rPr lang="en-IN" sz="6000" b="1" dirty="0"/>
              <a:t>Mrs.M. Roja</a:t>
            </a:r>
            <a:r>
              <a:rPr lang="en-US" sz="5600" b="1" dirty="0"/>
              <a:t> </a:t>
            </a:r>
          </a:p>
          <a:p>
            <a:pPr algn="ctr">
              <a:buNone/>
            </a:pPr>
            <a:r>
              <a:rPr lang="en-US" sz="5600" b="1" dirty="0"/>
              <a:t>Assistant Professor</a:t>
            </a:r>
            <a:endParaRPr lang="en-US" b="1" dirty="0"/>
          </a:p>
          <a:p>
            <a:pPr algn="ctr">
              <a:buNone/>
            </a:pPr>
            <a:endParaRPr lang="en-US" b="1" dirty="0"/>
          </a:p>
          <a:p>
            <a:pPr algn="ctr">
              <a:buNone/>
            </a:pPr>
            <a:endParaRPr lang="en-US" b="1" dirty="0"/>
          </a:p>
          <a:p>
            <a:pPr algn="ctr">
              <a:buNone/>
            </a:pPr>
            <a:endParaRPr lang="en-US" b="1" dirty="0"/>
          </a:p>
          <a:p>
            <a:pPr algn="ctr">
              <a:buNone/>
            </a:pPr>
            <a:endParaRPr lang="en-US" dirty="0"/>
          </a:p>
          <a:p>
            <a:pPr algn="ctr">
              <a:buNone/>
            </a:pPr>
            <a:endParaRPr lang="en-US" b="1" dirty="0"/>
          </a:p>
          <a:p>
            <a:pPr algn="ctr">
              <a:buNone/>
            </a:pPr>
            <a:endParaRPr lang="en-US" sz="3800" b="1" dirty="0"/>
          </a:p>
          <a:p>
            <a:pPr algn="ctr">
              <a:buNone/>
            </a:pPr>
            <a:endParaRPr lang="en-US" sz="3800" b="1" dirty="0"/>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p>
          <a:p>
            <a:pPr algn="ctr">
              <a:buNone/>
            </a:pPr>
            <a:r>
              <a:rPr lang="en-US" sz="5600" b="1" dirty="0"/>
              <a:t>(Autonomous)</a:t>
            </a:r>
            <a:endParaRPr lang="en-US" sz="5600" dirty="0"/>
          </a:p>
          <a:p>
            <a:pPr algn="ctr">
              <a:buNone/>
            </a:pPr>
            <a:r>
              <a:rPr lang="en-US" sz="5600" b="1" dirty="0"/>
              <a:t>Karakambadi Road, Tirupati-517507</a:t>
            </a:r>
            <a:endParaRPr lang="en-US" sz="5600" dirty="0"/>
          </a:p>
          <a:p>
            <a:pPr algn="ctr">
              <a:buNone/>
            </a:pPr>
            <a:r>
              <a:rPr lang="en-US" sz="5600" b="1" dirty="0"/>
              <a:t>2022-2026</a:t>
            </a:r>
            <a:endParaRPr lang="en-US" sz="5600"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67150" y="40386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sz="quarter" idx="1"/>
          </p:nvPr>
        </p:nvSpPr>
        <p:spPr>
          <a:xfrm>
            <a:off x="612648" y="1600200"/>
            <a:ext cx="8153400" cy="5029200"/>
          </a:xfrm>
        </p:spPr>
        <p:txBody>
          <a:bodyPr>
            <a:normAutofit fontScale="92500" lnSpcReduction="10000"/>
          </a:bodyPr>
          <a:lstStyle/>
          <a:p>
            <a:r>
              <a:rPr lang="en-US" sz="1900" dirty="0">
                <a:latin typeface="Times New Roman" panose="02020603050405020304" pitchFamily="18" charset="0"/>
                <a:cs typeface="Times New Roman" panose="02020603050405020304" pitchFamily="18" charset="0"/>
              </a:rPr>
              <a:t>Abstract</a:t>
            </a:r>
          </a:p>
          <a:p>
            <a:r>
              <a:rPr lang="en-US" sz="1900" dirty="0">
                <a:latin typeface="Times New Roman" panose="02020603050405020304" pitchFamily="18" charset="0"/>
                <a:cs typeface="Times New Roman" panose="02020603050405020304" pitchFamily="18" charset="0"/>
              </a:rPr>
              <a:t>Introduction</a:t>
            </a:r>
          </a:p>
          <a:p>
            <a:r>
              <a:rPr lang="en-US" sz="1900" dirty="0">
                <a:latin typeface="Times New Roman" panose="02020603050405020304" pitchFamily="18" charset="0"/>
                <a:cs typeface="Times New Roman" panose="02020603050405020304" pitchFamily="18" charset="0"/>
              </a:rPr>
              <a:t>Problem  Statement </a:t>
            </a:r>
          </a:p>
          <a:p>
            <a:r>
              <a:rPr lang="en-US" sz="1900" dirty="0">
                <a:latin typeface="Times New Roman" panose="02020603050405020304" pitchFamily="18" charset="0"/>
                <a:cs typeface="Times New Roman" panose="02020603050405020304" pitchFamily="18" charset="0"/>
              </a:rPr>
              <a:t>Existing system</a:t>
            </a:r>
          </a:p>
          <a:p>
            <a:r>
              <a:rPr lang="en-US" sz="1900" dirty="0">
                <a:latin typeface="Times New Roman" panose="02020603050405020304" pitchFamily="18" charset="0"/>
                <a:cs typeface="Times New Roman" panose="02020603050405020304" pitchFamily="18" charset="0"/>
              </a:rPr>
              <a:t>Disadvantages</a:t>
            </a:r>
          </a:p>
          <a:p>
            <a:r>
              <a:rPr lang="en-US" sz="1900" dirty="0">
                <a:latin typeface="Times New Roman" panose="02020603050405020304" pitchFamily="18" charset="0"/>
                <a:cs typeface="Times New Roman" panose="02020603050405020304" pitchFamily="18" charset="0"/>
              </a:rPr>
              <a:t>Proposed system</a:t>
            </a:r>
          </a:p>
          <a:p>
            <a:r>
              <a:rPr lang="en-US" sz="1900" dirty="0">
                <a:latin typeface="Times New Roman" panose="02020603050405020304" pitchFamily="18" charset="0"/>
                <a:cs typeface="Times New Roman" panose="02020603050405020304" pitchFamily="18" charset="0"/>
              </a:rPr>
              <a:t>Advantages</a:t>
            </a:r>
          </a:p>
          <a:p>
            <a:r>
              <a:rPr lang="en-US" sz="1900" dirty="0">
                <a:latin typeface="Times New Roman" panose="02020603050405020304" pitchFamily="18" charset="0"/>
                <a:cs typeface="Times New Roman" panose="02020603050405020304" pitchFamily="18" charset="0"/>
              </a:rPr>
              <a:t>System Requirements</a:t>
            </a:r>
          </a:p>
          <a:p>
            <a:r>
              <a:rPr lang="en-US" sz="1900" dirty="0">
                <a:latin typeface="Times New Roman" panose="02020603050405020304" pitchFamily="18" charset="0"/>
                <a:cs typeface="Times New Roman" panose="02020603050405020304" pitchFamily="18" charset="0"/>
              </a:rPr>
              <a:t>System Architecture</a:t>
            </a:r>
          </a:p>
          <a:p>
            <a:r>
              <a:rPr lang="en-US" sz="1900" dirty="0">
                <a:latin typeface="Times New Roman" panose="02020603050405020304" pitchFamily="18" charset="0"/>
                <a:cs typeface="Times New Roman" panose="02020603050405020304" pitchFamily="18" charset="0"/>
              </a:rPr>
              <a:t>Modules</a:t>
            </a:r>
          </a:p>
          <a:p>
            <a:r>
              <a:rPr lang="en-US" sz="1900" dirty="0">
                <a:latin typeface="Times New Roman" panose="02020603050405020304" pitchFamily="18" charset="0"/>
                <a:cs typeface="Times New Roman" panose="02020603050405020304" pitchFamily="18" charset="0"/>
              </a:rPr>
              <a:t>UML </a:t>
            </a:r>
            <a:r>
              <a:rPr lang="en-IN" sz="1900" dirty="0">
                <a:latin typeface="Times New Roman" panose="02020603050405020304" pitchFamily="18" charset="0"/>
                <a:cs typeface="Times New Roman" panose="02020603050405020304" pitchFamily="18" charset="0"/>
              </a:rPr>
              <a:t>Diagrams</a:t>
            </a:r>
          </a:p>
          <a:p>
            <a:r>
              <a:rPr lang="en-US" sz="1900" dirty="0">
                <a:latin typeface="Times New Roman" panose="02020603050405020304" pitchFamily="18" charset="0"/>
                <a:cs typeface="Times New Roman" panose="02020603050405020304" pitchFamily="18" charset="0"/>
              </a:rPr>
              <a:t>Output Screenshots</a:t>
            </a:r>
          </a:p>
          <a:p>
            <a:r>
              <a:rPr lang="en-IN" sz="1900" dirty="0">
                <a:latin typeface="Times New Roman" panose="02020603050405020304" pitchFamily="18" charset="0"/>
                <a:cs typeface="Times New Roman" panose="02020603050405020304" pitchFamily="18" charset="0"/>
              </a:rPr>
              <a:t>Conclusion </a:t>
            </a:r>
          </a:p>
          <a:p>
            <a:r>
              <a:rPr lang="en-IN" sz="1900" dirty="0">
                <a:latin typeface="Times New Roman" panose="02020603050405020304" pitchFamily="18" charset="0"/>
                <a:cs typeface="Times New Roman" panose="02020603050405020304" pitchFamily="18" charset="0"/>
              </a:rPr>
              <a:t>Future Enhancement </a:t>
            </a:r>
            <a:endParaRPr lang="en-US" sz="1900" dirty="0">
              <a:latin typeface="Times New Roman" panose="02020603050405020304" pitchFamily="18"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3112408762"/>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sz="quarter" idx="1"/>
          </p:nvPr>
        </p:nvSpPr>
        <p:spPr>
          <a:xfrm>
            <a:off x="612648" y="1600200"/>
            <a:ext cx="8153400" cy="57912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global transition toward sustainable mobility has significantly accelerated the demand for Electric Vehicles (EVs). To cater to this surge, automotive industries—both established manufacturers and emerging startups—are compelled to enhance production efficiency while simultaneously minimizing costs to remain competitive Particularly in the domain of energy storage and battery management systems. To address these challenges, the integration of digital twin technology offers a transformative solution. By creating virtual replicas of both production facilities and vehicle components, manufacturers can simulate, analyze, and optimize assembly processes. This not only reduces production time but also ensures high-quality outcomes in mass manufacturing environments. The battery energy management system (BEMS) represents one of the most complex and critical aspects of EV performance. The proposed approach enables intelligent estimation of battery parameters, enhances energy utilization, and improves system reliability and lifespan. Through predictive analytics and data-driven insights, this research contributes to developing smarter and more efficient EV battery management frameworks, supporting the broader vision of sustainable transportation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282389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sz="quarter" idx="1"/>
          </p:nvPr>
        </p:nvSpPr>
        <p:spPr>
          <a:xfrm>
            <a:off x="533400" y="1600200"/>
            <a:ext cx="8382000" cy="44958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Electric Vehicles (EVs) are becoming a major solution for achieving clean and sustainable transportation. Since EVs depend entirely on battery performance, an efficient battery management system is essential for ensuring range, safety, and reliability. With the rise in EV adoption, industries require smarter systems that can accurately monitor battery conditions and predict their behavior. Machine learning helps overcome the limitations of traditional methods by providing more accurate battery state estimation and performance prediction. At the same time, digital twin technology enables virtual testing and optimization of battery systems. By combining both approaches, this project aims to develop an intelligent and efficient framework for controlling and analyzing battery energy systems in electric vehicles. Furthermore, the increasing demand for high-performance battery systems requires advanced monitoring and control techniques to enhance efficiency and </a:t>
            </a:r>
            <a:r>
              <a:rPr lang="en-US" sz="1800" dirty="0" err="1">
                <a:latin typeface="Times New Roman" panose="02020603050405020304" pitchFamily="18" charset="0"/>
                <a:cs typeface="Times New Roman" panose="02020603050405020304" pitchFamily="18" charset="0"/>
              </a:rPr>
              <a:t>lifespan.Data</a:t>
            </a:r>
            <a:r>
              <a:rPr lang="en-US" sz="1800" dirty="0">
                <a:latin typeface="Times New Roman" panose="02020603050405020304" pitchFamily="18" charset="0"/>
                <a:cs typeface="Times New Roman" panose="02020603050405020304" pitchFamily="18" charset="0"/>
              </a:rPr>
              <a:t>-driven approaches enable real-time analysis of battery parameters such as temperature, voltage, and state of charge, improving decision-making </a:t>
            </a:r>
            <a:r>
              <a:rPr lang="en-US" sz="1800" dirty="0" err="1">
                <a:latin typeface="Times New Roman" panose="02020603050405020304" pitchFamily="18" charset="0"/>
                <a:cs typeface="Times New Roman" panose="02020603050405020304" pitchFamily="18" charset="0"/>
              </a:rPr>
              <a:t>processes.The</a:t>
            </a:r>
            <a:r>
              <a:rPr lang="en-US" sz="1800" dirty="0">
                <a:latin typeface="Times New Roman" panose="02020603050405020304" pitchFamily="18" charset="0"/>
                <a:cs typeface="Times New Roman" panose="02020603050405020304" pitchFamily="18" charset="0"/>
              </a:rPr>
              <a:t> integration of intelligent algorithms helps in early fault detection, reducing the risk of battery failures and improving overall system reliability.</a:t>
            </a:r>
          </a:p>
        </p:txBody>
      </p:sp>
    </p:spTree>
    <p:extLst>
      <p:ext uri="{BB962C8B-B14F-4D97-AF65-F5344CB8AC3E}">
        <p14:creationId xmlns:p14="http://schemas.microsoft.com/office/powerpoint/2010/main" val="2712522348"/>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sz="quarter" idx="1"/>
          </p:nvPr>
        </p:nvSpPr>
        <p:spPr>
          <a:xfrm>
            <a:off x="612648" y="1600200"/>
            <a:ext cx="8074152" cy="32766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Electric Vehicles depend entirely on their battery performance, but the current battery management systems are not accurate or intelligent enough to handle real-world conditions. They struggle to predict battery health, cannot adapt to temperature or load changes, and offer no virtual simulation support. This leads to poor energy efficiency, faster battery degradation, and unreliable performance. There is a clear need for a smarter system that can accurately monitor, predict, and optimize battery behavior in electric vehicles.</a:t>
            </a:r>
          </a:p>
        </p:txBody>
      </p:sp>
    </p:spTree>
    <p:extLst>
      <p:ext uri="{BB962C8B-B14F-4D97-AF65-F5344CB8AC3E}">
        <p14:creationId xmlns:p14="http://schemas.microsoft.com/office/powerpoint/2010/main" val="260814948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sz="quarter"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existing Battery Management Systems (BMS) used in electric vehicles mainly rely on rule-based logic and predefined mathematical models that interpret battery voltage, current, and temperature readings. As highlighted in the reference paper, these model-driven approaches struggle to capture the complex and non-linear behavior of lithium-ion batteries, making them less accurate under varying real-world conditions. They are unable to adapt effectively to changes in temperature, load, or driving patterns, which leads to unreliable state estimation. The base paper also emphasizes that traditional systems operate without virtual simulation or digital twin support, resulting in slow, costly, and hardware-dependent validation processes. This lack of adaptability and predictive capability makes existing BMS less efficient for modern electric vehicle requirements</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0341095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DISADVANTAGES</a:t>
            </a:r>
          </a:p>
        </p:txBody>
      </p:sp>
      <p:sp>
        <p:nvSpPr>
          <p:cNvPr id="3" name="Content Placeholder 2"/>
          <p:cNvSpPr>
            <a:spLocks noGrp="1"/>
          </p:cNvSpPr>
          <p:nvPr>
            <p:ph sz="quarter" idx="1"/>
          </p:nvPr>
        </p:nvSpPr>
        <p:spPr>
          <a:xfrm>
            <a:off x="612648" y="1600200"/>
            <a:ext cx="8153400" cy="5029200"/>
          </a:xfrm>
        </p:spPr>
        <p:txBody>
          <a:bodyPr>
            <a:normAutofit/>
          </a:bodyPr>
          <a:lstStyle/>
          <a:p>
            <a:r>
              <a:rPr lang="en-US" sz="1800" b="1" dirty="0">
                <a:latin typeface="Times New Roman" panose="02020603050405020304" pitchFamily="18" charset="0"/>
                <a:cs typeface="Times New Roman" panose="02020603050405020304" pitchFamily="18" charset="0"/>
              </a:rPr>
              <a:t>Limited Accuracy in Battery State Estimation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Traditional BMS models cannot accurately estimate State of Charge (SoC) or State of Health (SoH) when battery conditions change, leading to unreliable performance predictions.</a:t>
            </a:r>
          </a:p>
          <a:p>
            <a:r>
              <a:rPr lang="en-US" sz="1800" b="1" dirty="0">
                <a:latin typeface="Times New Roman" panose="02020603050405020304" pitchFamily="18" charset="0"/>
                <a:cs typeface="Times New Roman" panose="02020603050405020304" pitchFamily="18" charset="0"/>
              </a:rPr>
              <a:t>Poor Adaptability to Real-World Conditions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Since rule-based systems depend on fixed reference values, they fail to adapt to variations in temperature, load, driving behavior, and aging effects.</a:t>
            </a:r>
          </a:p>
          <a:p>
            <a:r>
              <a:rPr lang="en-US" sz="1800" b="1" dirty="0">
                <a:latin typeface="Times New Roman" panose="02020603050405020304" pitchFamily="18" charset="0"/>
                <a:cs typeface="Times New Roman" panose="02020603050405020304" pitchFamily="18" charset="0"/>
              </a:rPr>
              <a:t>No Predictive Intelligence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Existing systems cannot forecast battery degradation or detect issues early. This results in unexpected failures and reduced operational safety.</a:t>
            </a:r>
          </a:p>
          <a:p>
            <a:r>
              <a:rPr lang="en-US" sz="1800" b="1" dirty="0">
                <a:latin typeface="Times New Roman" panose="02020603050405020304" pitchFamily="18" charset="0"/>
                <a:cs typeface="Times New Roman" panose="02020603050405020304" pitchFamily="18" charset="0"/>
              </a:rPr>
              <a:t>Absence of Virtual Simulation or Digital Twin Support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Without a digital twin environment, testing and validation become slow, costly, and heavily dependent on physical hardware.</a:t>
            </a:r>
          </a:p>
          <a:p>
            <a:r>
              <a:rPr lang="en-US" sz="1800" b="1" dirty="0">
                <a:latin typeface="Times New Roman" panose="02020603050405020304" pitchFamily="18" charset="0"/>
                <a:cs typeface="Times New Roman" panose="02020603050405020304" pitchFamily="18" charset="0"/>
              </a:rPr>
              <a:t>Faster Battery Degradation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Inefficient monitoring and lack of optimized control strategies lead to poor energy utilization and accelerate battery aging over time.</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640325"/>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sz="quarter" idx="1"/>
          </p:nvPr>
        </p:nvSpPr>
        <p:spPr>
          <a:xfrm>
            <a:off x="612648" y="1600200"/>
            <a:ext cx="8153400" cy="4038600"/>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proposed system introduces an intelligent Battery Energy Management System that combines Machine Learning and Digital Twin technology. Machine Learning is used to accurately predict battery behavior, estimate key parameters, and detect issues early. Digital Twin technology creates a virtual model of the battery system, allowing real-time simulation, testing, and optimization without relying on physical hardware. By integrating these two technologies, the system can monitor battery performance more precisely, adapt to changing conditions, and improve energy utilization. This leads to better efficiency, longer battery life, and more reliable performance in electric vehicles.</a:t>
            </a:r>
          </a:p>
        </p:txBody>
      </p:sp>
    </p:spTree>
    <p:extLst>
      <p:ext uri="{BB962C8B-B14F-4D97-AF65-F5344CB8AC3E}">
        <p14:creationId xmlns:p14="http://schemas.microsoft.com/office/powerpoint/2010/main" val="44390653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sz="quarter" idx="1"/>
          </p:nvPr>
        </p:nvSpPr>
        <p:spPr>
          <a:xfrm>
            <a:off x="612648" y="1600200"/>
            <a:ext cx="8153400" cy="5029200"/>
          </a:xfrm>
        </p:spPr>
        <p:txBody>
          <a:bodyPr>
            <a:normAutofit fontScale="92500" lnSpcReduction="10000"/>
          </a:bodyPr>
          <a:lstStyle/>
          <a:p>
            <a:r>
              <a:rPr lang="en-US" sz="1900" b="1" dirty="0">
                <a:latin typeface="Times New Roman" panose="02020603050405020304" pitchFamily="18" charset="0"/>
                <a:cs typeface="Times New Roman" panose="02020603050405020304" pitchFamily="18" charset="0"/>
              </a:rPr>
              <a:t>Improved Accuracy</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Machine learning provides more precise estimation of battery health and performance compared to traditional methods.</a:t>
            </a:r>
          </a:p>
          <a:p>
            <a:r>
              <a:rPr lang="en-US" sz="1900" b="1" dirty="0">
                <a:latin typeface="Times New Roman" panose="02020603050405020304" pitchFamily="18" charset="0"/>
                <a:cs typeface="Times New Roman" panose="02020603050405020304" pitchFamily="18" charset="0"/>
              </a:rPr>
              <a:t>Early Problem Detection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Predictive analysis helps identify battery issues before they cause failures, improving safety and reliability.</a:t>
            </a:r>
          </a:p>
          <a:p>
            <a:r>
              <a:rPr lang="en-US" sz="1900" b="1" dirty="0">
                <a:latin typeface="Times New Roman" panose="02020603050405020304" pitchFamily="18" charset="0"/>
                <a:cs typeface="Times New Roman" panose="02020603050405020304" pitchFamily="18" charset="0"/>
              </a:rPr>
              <a:t>Better Energy Utilization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Optimized control strategies ensure efficient charging and discharging, reducing energy loss.</a:t>
            </a:r>
          </a:p>
          <a:p>
            <a:r>
              <a:rPr lang="en-US" sz="1900" b="1" dirty="0">
                <a:latin typeface="Times New Roman" panose="02020603050405020304" pitchFamily="18" charset="0"/>
                <a:cs typeface="Times New Roman" panose="02020603050405020304" pitchFamily="18" charset="0"/>
              </a:rPr>
              <a:t>Extended Battery Lifespan</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Smarter monitoring and optimized usage slow down battery aging and improve long-term performance.</a:t>
            </a:r>
          </a:p>
          <a:p>
            <a:r>
              <a:rPr lang="en-US" sz="1900" b="1" dirty="0">
                <a:latin typeface="Times New Roman" panose="02020603050405020304" pitchFamily="18" charset="0"/>
                <a:cs typeface="Times New Roman" panose="02020603050405020304" pitchFamily="18" charset="0"/>
              </a:rPr>
              <a:t>Cost-Effective Testing</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Digital twin simulations reduce the need for physical testing, saving time, effort, and resources.</a:t>
            </a:r>
          </a:p>
          <a:p>
            <a:r>
              <a:rPr lang="en-US" sz="1900" b="1" dirty="0">
                <a:latin typeface="Times New Roman" panose="02020603050405020304" pitchFamily="18" charset="0"/>
                <a:cs typeface="Times New Roman" panose="02020603050405020304" pitchFamily="18" charset="0"/>
              </a:rPr>
              <a:t>Real-Time Adaptability</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The system adjusts itself based on temperature, load, and driving conditions, ensuring stable performance in all environments.</a:t>
            </a:r>
          </a:p>
          <a:p>
            <a:pPr algn="just"/>
            <a:endParaRPr lang="en-US" dirty="0"/>
          </a:p>
        </p:txBody>
      </p:sp>
    </p:spTree>
    <p:extLst>
      <p:ext uri="{BB962C8B-B14F-4D97-AF65-F5344CB8AC3E}">
        <p14:creationId xmlns:p14="http://schemas.microsoft.com/office/powerpoint/2010/main" val="66387359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sz="quarter" idx="1"/>
          </p:nvPr>
        </p:nvSpPr>
        <p:spPr>
          <a:xfrm>
            <a:off x="612648" y="1752600"/>
            <a:ext cx="8153400" cy="4495800"/>
          </a:xfrm>
        </p:spPr>
        <p:txBody>
          <a:bodyPr>
            <a:normAutofit/>
          </a:bodyPr>
          <a:lstStyle/>
          <a:p>
            <a:pPr marL="0" indent="0">
              <a:buNone/>
            </a:pPr>
            <a:r>
              <a:rPr lang="en-US" sz="1800" b="1" u="sng" dirty="0">
                <a:latin typeface="Times New Roman" panose="02020603050405020304" pitchFamily="18" charset="0"/>
                <a:cs typeface="Times New Roman" panose="02020603050405020304" pitchFamily="18" charset="0"/>
              </a:rPr>
              <a:t>Hardware Requirements :</a:t>
            </a:r>
            <a:endParaRPr lang="en-US" sz="1800" b="1" dirty="0">
              <a:latin typeface="Times New Roman" panose="02020603050405020304" pitchFamily="18" charset="0"/>
              <a:cs typeface="Times New Roman" panose="02020603050405020304" pitchFamily="18" charset="0"/>
            </a:endParaRPr>
          </a:p>
          <a:p>
            <a:pPr marL="0" lvl="0" indent="0">
              <a:buNone/>
            </a:pPr>
            <a:r>
              <a:rPr lang="en-US" sz="1800" dirty="0">
                <a:latin typeface="Times New Roman" panose="02020603050405020304" pitchFamily="18" charset="0"/>
                <a:cs typeface="Times New Roman" panose="02020603050405020304" pitchFamily="18" charset="0"/>
              </a:rPr>
              <a:t>Processor  : Intel Core i3 / i5 or AMD Ryzen 3 / 5</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RAM         : 8 GB or more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Hard Disk  : 20 GB or more free space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Monitor     : VGA / SVGA / LCD / LED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Keyboard  : Standard 104-key keyboard</a:t>
            </a:r>
          </a:p>
        </p:txBody>
      </p:sp>
    </p:spTree>
    <p:extLst>
      <p:ext uri="{BB962C8B-B14F-4D97-AF65-F5344CB8AC3E}">
        <p14:creationId xmlns:p14="http://schemas.microsoft.com/office/powerpoint/2010/main" val="17311825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SOFTWARE REQUIREMENTS</a:t>
            </a:r>
          </a:p>
        </p:txBody>
      </p:sp>
      <p:sp>
        <p:nvSpPr>
          <p:cNvPr id="3" name="Content Placeholder 2"/>
          <p:cNvSpPr>
            <a:spLocks noGrp="1"/>
          </p:cNvSpPr>
          <p:nvPr>
            <p:ph sz="quarter" idx="1"/>
          </p:nvPr>
        </p:nvSpPr>
        <p:spPr>
          <a:xfrm>
            <a:off x="612648" y="1600200"/>
            <a:ext cx="8988552" cy="3276600"/>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Operating System         : Windows 10 / 11</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Programming Language : Python 3.x</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Python Libraries            : NumPy, Pandas, Scikit-Learn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Simulation / Modeling   : MATLAB / Simulink (optional)</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Development Platform   : Jupyter Notebook / Google Colab</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Version Control             : GitHub</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Documentation Tools      : MS Word / PowerPoint</a:t>
            </a:r>
          </a:p>
          <a:p>
            <a:endParaRPr lang="en-US" sz="2700" dirty="0"/>
          </a:p>
        </p:txBody>
      </p:sp>
    </p:spTree>
    <p:extLst>
      <p:ext uri="{BB962C8B-B14F-4D97-AF65-F5344CB8AC3E}">
        <p14:creationId xmlns:p14="http://schemas.microsoft.com/office/powerpoint/2010/main" val="15237081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30921-2DE6-457F-1D88-1FA8E4FB1BAD}"/>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118D59E8-2B32-2E20-8DA6-196244BDC61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t="21883" r="685" b="16949"/>
          <a:stretch>
            <a:fillRect/>
          </a:stretch>
        </p:blipFill>
        <p:spPr>
          <a:xfrm>
            <a:off x="76200" y="1752600"/>
            <a:ext cx="8915400" cy="4953000"/>
          </a:xfrm>
        </p:spPr>
      </p:pic>
    </p:spTree>
    <p:extLst>
      <p:ext uri="{BB962C8B-B14F-4D97-AF65-F5344CB8AC3E}">
        <p14:creationId xmlns:p14="http://schemas.microsoft.com/office/powerpoint/2010/main" val="3011543838"/>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0DEE-193F-66A1-21A8-509B361FD99E}"/>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A66E3775-A73B-6E60-2F0C-4EB03350CF43}"/>
              </a:ext>
            </a:extLst>
          </p:cNvPr>
          <p:cNvSpPr>
            <a:spLocks noGrp="1"/>
          </p:cNvSpPr>
          <p:nvPr>
            <p:ph sz="quarter" idx="1"/>
          </p:nvPr>
        </p:nvSpPr>
        <p:spPr/>
        <p:txBody>
          <a:bodyPr>
            <a:normAutofit/>
          </a:bodyPr>
          <a:lstStyle/>
          <a:p>
            <a:r>
              <a:rPr lang="en-US" sz="2000" b="1" dirty="0">
                <a:latin typeface="Times New Roman" panose="02020603050405020304" pitchFamily="18" charset="0"/>
                <a:cs typeface="Times New Roman" panose="02020603050405020304" pitchFamily="18" charset="0"/>
              </a:rPr>
              <a:t>Data Collection </a:t>
            </a:r>
            <a:br>
              <a:rPr lang="en-US"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Responsible for gathering battery parameters such as voltage, current, temperature, and usage history.</a:t>
            </a:r>
          </a:p>
          <a:p>
            <a:r>
              <a:rPr lang="en-US" sz="2000" b="1" dirty="0">
                <a:latin typeface="Times New Roman" panose="02020603050405020304" pitchFamily="18" charset="0"/>
                <a:cs typeface="Times New Roman" panose="02020603050405020304" pitchFamily="18" charset="0"/>
              </a:rPr>
              <a:t>Data Preprocessing </a:t>
            </a:r>
            <a:br>
              <a:rPr lang="en-US"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Handles data cleaning, normalization, and preparation for machine learning models.</a:t>
            </a:r>
          </a:p>
          <a:p>
            <a:r>
              <a:rPr lang="en-US" sz="2000" b="1" dirty="0">
                <a:latin typeface="Times New Roman" panose="02020603050405020304" pitchFamily="18" charset="0"/>
                <a:cs typeface="Times New Roman" panose="02020603050405020304" pitchFamily="18" charset="0"/>
              </a:rPr>
              <a:t>Machine Learning </a:t>
            </a:r>
            <a:br>
              <a:rPr lang="en-US"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Predicts battery state and performance using intelligent data-driven techniques</a:t>
            </a:r>
            <a:r>
              <a:rPr lang="en-US" sz="19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Digital Twin </a:t>
            </a:r>
            <a:br>
              <a:rPr lang="en-US"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Creates a virtual replica of the battery system for simulation and testing without physical hardware.</a:t>
            </a:r>
          </a:p>
          <a:p>
            <a:r>
              <a:rPr lang="en-US" sz="2000" b="1" dirty="0">
                <a:latin typeface="Times New Roman" panose="02020603050405020304" pitchFamily="18" charset="0"/>
                <a:cs typeface="Times New Roman" panose="02020603050405020304" pitchFamily="18" charset="0"/>
              </a:rPr>
              <a:t>Performance Analysis </a:t>
            </a:r>
            <a:br>
              <a:rPr lang="en-US" u="sng"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Analyzes results and optimizes battery behavior to improve lifespan and energy efficiency.</a:t>
            </a:r>
          </a:p>
          <a:p>
            <a:endParaRPr lang="en-IN" dirty="0"/>
          </a:p>
        </p:txBody>
      </p:sp>
    </p:spTree>
    <p:extLst>
      <p:ext uri="{BB962C8B-B14F-4D97-AF65-F5344CB8AC3E}">
        <p14:creationId xmlns:p14="http://schemas.microsoft.com/office/powerpoint/2010/main" val="4246898610"/>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1EC-7AC1-80FB-5126-2918FD5CF9AE}"/>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endParaRPr lang="en-IN" sz="2800" dirty="0"/>
          </a:p>
        </p:txBody>
      </p:sp>
      <p:pic>
        <p:nvPicPr>
          <p:cNvPr id="5" name="Content Placeholder 4">
            <a:extLst>
              <a:ext uri="{FF2B5EF4-FFF2-40B4-BE49-F238E27FC236}">
                <a16:creationId xmlns:a16="http://schemas.microsoft.com/office/drawing/2014/main" id="{C2509C66-E59A-BDA8-12D4-E9A8674F9A9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600200"/>
            <a:ext cx="7162800" cy="4800600"/>
          </a:xfrm>
          <a:prstGeom prst="rect">
            <a:avLst/>
          </a:prstGeom>
        </p:spPr>
      </p:pic>
    </p:spTree>
    <p:extLst>
      <p:ext uri="{BB962C8B-B14F-4D97-AF65-F5344CB8AC3E}">
        <p14:creationId xmlns:p14="http://schemas.microsoft.com/office/powerpoint/2010/main" val="3401832611"/>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2A42-83BC-C23F-70CC-092F69AF330C}"/>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p>
        </p:txBody>
      </p:sp>
      <p:pic>
        <p:nvPicPr>
          <p:cNvPr id="6" name="Content Placeholder 5">
            <a:extLst>
              <a:ext uri="{FF2B5EF4-FFF2-40B4-BE49-F238E27FC236}">
                <a16:creationId xmlns:a16="http://schemas.microsoft.com/office/drawing/2014/main" id="{822146AD-0674-2ED3-BEBE-BC9CEFA04ED0}"/>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62000" y="1589088"/>
            <a:ext cx="7391400" cy="4887912"/>
          </a:xfrm>
          <a:prstGeom prst="rect">
            <a:avLst/>
          </a:prstGeom>
        </p:spPr>
      </p:pic>
    </p:spTree>
    <p:extLst>
      <p:ext uri="{BB962C8B-B14F-4D97-AF65-F5344CB8AC3E}">
        <p14:creationId xmlns:p14="http://schemas.microsoft.com/office/powerpoint/2010/main" val="3078104108"/>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1240-6F86-F401-6797-B31113912297}"/>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endParaRPr lang="en-IN" sz="2800" dirty="0"/>
          </a:p>
        </p:txBody>
      </p:sp>
      <p:pic>
        <p:nvPicPr>
          <p:cNvPr id="5" name="Content Placeholder 4">
            <a:extLst>
              <a:ext uri="{FF2B5EF4-FFF2-40B4-BE49-F238E27FC236}">
                <a16:creationId xmlns:a16="http://schemas.microsoft.com/office/drawing/2014/main" id="{EFD6A673-07B0-B681-204B-D6025C458A3D}"/>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600200"/>
            <a:ext cx="7315200" cy="4800600"/>
          </a:xfrm>
          <a:prstGeom prst="rect">
            <a:avLst/>
          </a:prstGeom>
        </p:spPr>
      </p:pic>
    </p:spTree>
    <p:extLst>
      <p:ext uri="{BB962C8B-B14F-4D97-AF65-F5344CB8AC3E}">
        <p14:creationId xmlns:p14="http://schemas.microsoft.com/office/powerpoint/2010/main" val="3121829942"/>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62BE5-CDEE-3E07-D176-7E28E81A2972}"/>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UML DIAGRAM </a:t>
            </a:r>
          </a:p>
        </p:txBody>
      </p:sp>
      <p:pic>
        <p:nvPicPr>
          <p:cNvPr id="6" name="Content Placeholder 5">
            <a:extLst>
              <a:ext uri="{FF2B5EF4-FFF2-40B4-BE49-F238E27FC236}">
                <a16:creationId xmlns:a16="http://schemas.microsoft.com/office/drawing/2014/main" id="{7DE41E40-AEE4-1F06-0336-C17AF94E03E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62001" y="1589088"/>
            <a:ext cx="7315200" cy="4572000"/>
          </a:xfrm>
          <a:prstGeom prst="rect">
            <a:avLst/>
          </a:prstGeom>
        </p:spPr>
      </p:pic>
    </p:spTree>
    <p:extLst>
      <p:ext uri="{BB962C8B-B14F-4D97-AF65-F5344CB8AC3E}">
        <p14:creationId xmlns:p14="http://schemas.microsoft.com/office/powerpoint/2010/main" val="1276425245"/>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11DB4-6534-4C72-FD23-89827C148579}"/>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OUTPUT </a:t>
            </a:r>
            <a:r>
              <a:rPr lang="en-US" sz="2800" dirty="0">
                <a:latin typeface="Times New Roman" panose="02020603050405020304" pitchFamily="18" charset="0"/>
                <a:cs typeface="Times New Roman" panose="02020603050405020304" pitchFamily="18" charset="0"/>
              </a:rPr>
              <a:t>SCREENSHOT </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19351C-7A7D-B8FF-185F-099F225E4A6E}"/>
              </a:ext>
            </a:extLst>
          </p:cNvPr>
          <p:cNvSpPr>
            <a:spLocks noGrp="1"/>
          </p:cNvSpPr>
          <p:nvPr>
            <p:ph sz="quarter" idx="1"/>
          </p:nvPr>
        </p:nvSpPr>
        <p:spPr/>
        <p:txBody>
          <a:bodyPr/>
          <a:lstStyle/>
          <a:p>
            <a:pPr marL="0" indent="0">
              <a:buNone/>
            </a:pPr>
            <a:endParaRPr lang="en-IN" dirty="0"/>
          </a:p>
          <a:p>
            <a:endParaRPr lang="en-IN" dirty="0"/>
          </a:p>
        </p:txBody>
      </p:sp>
      <p:pic>
        <p:nvPicPr>
          <p:cNvPr id="5" name="Picture 4">
            <a:extLst>
              <a:ext uri="{FF2B5EF4-FFF2-40B4-BE49-F238E27FC236}">
                <a16:creationId xmlns:a16="http://schemas.microsoft.com/office/drawing/2014/main" id="{0CF70151-A9A3-5ED6-9676-118D8D1244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752599"/>
            <a:ext cx="8382000" cy="4495800"/>
          </a:xfrm>
          <a:prstGeom prst="rect">
            <a:avLst/>
          </a:prstGeom>
        </p:spPr>
      </p:pic>
    </p:spTree>
    <p:extLst>
      <p:ext uri="{BB962C8B-B14F-4D97-AF65-F5344CB8AC3E}">
        <p14:creationId xmlns:p14="http://schemas.microsoft.com/office/powerpoint/2010/main" val="3015710332"/>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1D74-7F56-82FC-A6D3-EDDEF4752519}"/>
              </a:ext>
            </a:extLst>
          </p:cNvPr>
          <p:cNvSpPr>
            <a:spLocks noGrp="1"/>
          </p:cNvSpPr>
          <p:nvPr>
            <p:ph type="title"/>
          </p:nvPr>
        </p:nvSpPr>
        <p:spPr/>
        <p:txBody>
          <a:bodyPr>
            <a:normAutofit/>
          </a:bodyPr>
          <a:lstStyle/>
          <a:p>
            <a:r>
              <a:rPr lang="en-IN" sz="2800" dirty="0">
                <a:latin typeface="Times New Roman" panose="02020603050405020304" pitchFamily="18" charset="0"/>
                <a:ea typeface="Calibri" panose="020F0502020204030204" pitchFamily="34" charset="0"/>
                <a:cs typeface="Times New Roman" panose="02020603050405020304" pitchFamily="18" charset="0"/>
              </a:rPr>
              <a:t>OUTPUT </a:t>
            </a:r>
            <a:r>
              <a:rPr lang="en-US" sz="2800" dirty="0">
                <a:latin typeface="Times New Roman" panose="02020603050405020304" pitchFamily="18" charset="0"/>
                <a:ea typeface="Calibri" panose="020F0502020204030204" pitchFamily="34" charset="0"/>
                <a:cs typeface="Times New Roman" panose="02020603050405020304" pitchFamily="18" charset="0"/>
              </a:rPr>
              <a:t>SCREENSHOT </a:t>
            </a:r>
            <a:br>
              <a:rPr lang="en-IN" sz="2800" dirty="0">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80FAA7C-5C44-91DB-BBEF-54275F548793}"/>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2775" y="1801256"/>
            <a:ext cx="8153400" cy="4599543"/>
          </a:xfrm>
          <a:prstGeom prst="rect">
            <a:avLst/>
          </a:prstGeom>
        </p:spPr>
      </p:pic>
    </p:spTree>
    <p:extLst>
      <p:ext uri="{BB962C8B-B14F-4D97-AF65-F5344CB8AC3E}">
        <p14:creationId xmlns:p14="http://schemas.microsoft.com/office/powerpoint/2010/main" val="1625152005"/>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40C59-94E8-CBD0-88AF-0EC7BB50C021}"/>
              </a:ext>
            </a:extLst>
          </p:cNvPr>
          <p:cNvSpPr>
            <a:spLocks noGrp="1"/>
          </p:cNvSpPr>
          <p:nvPr>
            <p:ph type="title"/>
          </p:nvPr>
        </p:nvSpPr>
        <p:spPr/>
        <p:txBody>
          <a:bodyPr>
            <a:normAutofit/>
          </a:bodyPr>
          <a:lstStyle/>
          <a:p>
            <a:r>
              <a:rPr lang="en-IN" sz="2800" dirty="0">
                <a:latin typeface="Times New Roman" panose="02020603050405020304" pitchFamily="18" charset="0"/>
                <a:ea typeface="Calibri" panose="020F0502020204030204" pitchFamily="34" charset="0"/>
                <a:cs typeface="Times New Roman" panose="02020603050405020304" pitchFamily="18" charset="0"/>
              </a:rPr>
              <a:t>OUTPUT </a:t>
            </a:r>
            <a:r>
              <a:rPr lang="en-US" sz="2800" dirty="0">
                <a:latin typeface="Times New Roman" panose="02020603050405020304" pitchFamily="18" charset="0"/>
                <a:ea typeface="Calibri" panose="020F0502020204030204" pitchFamily="34" charset="0"/>
                <a:cs typeface="Times New Roman" panose="02020603050405020304" pitchFamily="18" charset="0"/>
              </a:rPr>
              <a:t>SCREENSHOT </a:t>
            </a:r>
            <a:br>
              <a:rPr lang="en-IN" sz="2800" dirty="0">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CD52E4E-8491-CE91-AD49-6F04621A34E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b="4838"/>
          <a:stretch>
            <a:fillRect/>
          </a:stretch>
        </p:blipFill>
        <p:spPr>
          <a:xfrm>
            <a:off x="612775" y="1675983"/>
            <a:ext cx="8153400" cy="4496217"/>
          </a:xfrm>
          <a:prstGeom prst="rect">
            <a:avLst/>
          </a:prstGeom>
        </p:spPr>
      </p:pic>
    </p:spTree>
    <p:extLst>
      <p:ext uri="{BB962C8B-B14F-4D97-AF65-F5344CB8AC3E}">
        <p14:creationId xmlns:p14="http://schemas.microsoft.com/office/powerpoint/2010/main" val="242850353"/>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4B66-4F35-B8FB-F3AB-2E2A14D00800}"/>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O</a:t>
            </a:r>
            <a:r>
              <a:rPr lang="en-IN" sz="2800" dirty="0">
                <a:latin typeface="Times New Roman" panose="02020603050405020304" pitchFamily="18" charset="0"/>
                <a:cs typeface="Times New Roman" panose="02020603050405020304" pitchFamily="18" charset="0"/>
              </a:rPr>
              <a:t>UTPUT SCREENSHOT</a:t>
            </a:r>
          </a:p>
        </p:txBody>
      </p:sp>
      <p:pic>
        <p:nvPicPr>
          <p:cNvPr id="8" name="Content Placeholder 7">
            <a:extLst>
              <a:ext uri="{FF2B5EF4-FFF2-40B4-BE49-F238E27FC236}">
                <a16:creationId xmlns:a16="http://schemas.microsoft.com/office/drawing/2014/main" id="{D6E34D09-A2A4-F55D-91DA-F3366F123B95}"/>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2775" y="1920678"/>
            <a:ext cx="7997825" cy="4480122"/>
          </a:xfrm>
          <a:prstGeom prst="rect">
            <a:avLst/>
          </a:prstGeom>
        </p:spPr>
      </p:pic>
    </p:spTree>
    <p:extLst>
      <p:ext uri="{BB962C8B-B14F-4D97-AF65-F5344CB8AC3E}">
        <p14:creationId xmlns:p14="http://schemas.microsoft.com/office/powerpoint/2010/main" val="2994365590"/>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2097-5064-7E74-74FC-B1F5F0F6CBF3}"/>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CONCLUSION </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4A7FD0-B5BC-B097-8C73-B74DB298AA3C}"/>
              </a:ext>
            </a:extLst>
          </p:cNvPr>
          <p:cNvSpPr>
            <a:spLocks noGrp="1"/>
          </p:cNvSpPr>
          <p:nvPr>
            <p:ph sz="quarter"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proposed Battery Energy Management System (BEMS) using Machine Learning improves the efficiency and reliability of electric vehicles. It enables accurate prediction of battery health, helping in early fault detection and preventive maintenance. The system optimizes charging and discharging cycles, enhancing battery lifespan and performance. Integration of intelligent data analysis reduces energy wastage and improves overall system efficiency. This approach supports the development of sustainable and smart electric mobility solutions.</a:t>
            </a:r>
            <a:endParaRPr lang="en-IN" sz="1800" dirty="0">
              <a:latin typeface="Times New Roman" panose="02020603050405020304" pitchFamily="18" charset="0"/>
              <a:cs typeface="Times New Roman" panose="02020603050405020304" pitchFamily="18" charset="0"/>
            </a:endParaRPr>
          </a:p>
          <a:p>
            <a:endParaRPr lang="en-US" sz="1800" dirty="0"/>
          </a:p>
          <a:p>
            <a:endParaRPr lang="en-US" sz="1800" dirty="0"/>
          </a:p>
          <a:p>
            <a:endParaRPr lang="en-US" sz="1800" dirty="0"/>
          </a:p>
          <a:p>
            <a:endParaRPr lang="en-US" sz="1800" dirty="0"/>
          </a:p>
        </p:txBody>
      </p:sp>
    </p:spTree>
    <p:extLst>
      <p:ext uri="{BB962C8B-B14F-4D97-AF65-F5344CB8AC3E}">
        <p14:creationId xmlns:p14="http://schemas.microsoft.com/office/powerpoint/2010/main" val="4278358016"/>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4234-9BCC-CD94-570B-D4990C7B24E9}"/>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FUTURE </a:t>
            </a:r>
            <a:r>
              <a:rPr lang="en-US" sz="2800" dirty="0">
                <a:latin typeface="Times New Roman" panose="02020603050405020304" pitchFamily="18" charset="0"/>
                <a:cs typeface="Times New Roman" panose="02020603050405020304" pitchFamily="18" charset="0"/>
              </a:rPr>
              <a:t>ENHANCEMENT </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981F9-7057-F6DF-9168-186ED0FEA14B}"/>
              </a:ext>
            </a:extLst>
          </p:cNvPr>
          <p:cNvSpPr>
            <a:spLocks noGrp="1"/>
          </p:cNvSpPr>
          <p:nvPr>
            <p:ph sz="quarter" idx="1"/>
          </p:nvPr>
        </p:nvSpPr>
        <p:spPr/>
        <p:txBody>
          <a:bodyPr>
            <a:noAutofit/>
          </a:bodyPr>
          <a:lstStyle/>
          <a:p>
            <a:r>
              <a:rPr lang="en-US" sz="1800" dirty="0">
                <a:latin typeface="Times New Roman" panose="02020603050405020304" pitchFamily="18" charset="0"/>
                <a:cs typeface="Times New Roman" panose="02020603050405020304" pitchFamily="18" charset="0"/>
              </a:rPr>
              <a:t>Integration of real-time IoT sensors for more accurate and continuous battery monitoring.</a:t>
            </a:r>
          </a:p>
          <a:p>
            <a:r>
              <a:rPr lang="en-US" sz="1800" dirty="0">
                <a:latin typeface="Times New Roman" panose="02020603050405020304" pitchFamily="18" charset="0"/>
                <a:cs typeface="Times New Roman" panose="02020603050405020304" pitchFamily="18" charset="0"/>
              </a:rPr>
              <a:t>Use of advanced Machine Learning / Deep Learning models for higher prediction accuracy.</a:t>
            </a:r>
          </a:p>
          <a:p>
            <a:r>
              <a:rPr lang="en-US" sz="1800" dirty="0">
                <a:latin typeface="Times New Roman" panose="02020603050405020304" pitchFamily="18" charset="0"/>
                <a:cs typeface="Times New Roman" panose="02020603050405020304" pitchFamily="18" charset="0"/>
              </a:rPr>
              <a:t>Implementation of cloud-based data storage for large-scale analysis and remote access.</a:t>
            </a:r>
          </a:p>
          <a:p>
            <a:r>
              <a:rPr lang="en-US" sz="1800" dirty="0">
                <a:latin typeface="Times New Roman" panose="02020603050405020304" pitchFamily="18" charset="0"/>
                <a:cs typeface="Times New Roman" panose="02020603050405020304" pitchFamily="18" charset="0"/>
              </a:rPr>
              <a:t>Development of a mobile/web application for user-friendly monitoring and alerts.</a:t>
            </a:r>
          </a:p>
          <a:p>
            <a:r>
              <a:rPr lang="en-US" sz="1800" dirty="0">
                <a:latin typeface="Times New Roman" panose="02020603050405020304" pitchFamily="18" charset="0"/>
                <a:cs typeface="Times New Roman" panose="02020603050405020304" pitchFamily="18" charset="0"/>
              </a:rPr>
              <a:t>Incorporation of fast-charging optimization techniques to reduce charging time safely.</a:t>
            </a:r>
          </a:p>
          <a:p>
            <a:r>
              <a:rPr lang="en-US" sz="1800" dirty="0">
                <a:latin typeface="Times New Roman" panose="02020603050405020304" pitchFamily="18" charset="0"/>
                <a:cs typeface="Times New Roman" panose="02020603050405020304" pitchFamily="18" charset="0"/>
              </a:rPr>
              <a:t>Enhancing system with thermal management to prevent overheating issues.</a:t>
            </a:r>
          </a:p>
          <a:p>
            <a:r>
              <a:rPr lang="en-US" sz="1800" dirty="0">
                <a:latin typeface="Times New Roman" panose="02020603050405020304" pitchFamily="18" charset="0"/>
                <a:cs typeface="Times New Roman" panose="02020603050405020304" pitchFamily="18" charset="0"/>
              </a:rPr>
              <a:t>Applying AI-based fault diagnosis for automatic detection and correction of failures.</a:t>
            </a:r>
          </a:p>
          <a:p>
            <a:r>
              <a:rPr lang="en-US" sz="1800" dirty="0">
                <a:latin typeface="Times New Roman" panose="02020603050405020304" pitchFamily="18" charset="0"/>
                <a:cs typeface="Times New Roman" panose="02020603050405020304" pitchFamily="18" charset="0"/>
              </a:rPr>
              <a:t>Expansion to support renewable energy integration (like solar-powered EV charging).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9262497"/>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2"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1455</TotalTime>
  <Words>1481</Words>
  <Application>Microsoft Office PowerPoint</Application>
  <PresentationFormat>On-screen Show (4:3)</PresentationFormat>
  <Paragraphs>94</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Times New Roman</vt:lpstr>
      <vt:lpstr>Tw Cen MT</vt:lpstr>
      <vt:lpstr>Wingdings</vt:lpstr>
      <vt:lpstr>Wingdings 2</vt:lpstr>
      <vt:lpstr>Median</vt:lpstr>
      <vt:lpstr>Advanced Control and Analytical Study of Battery Energy Management Systems in Electric Vehicles using Machine Learning</vt:lpstr>
      <vt:lpstr>OUTLINE</vt:lpstr>
      <vt:lpstr>ABSTRACT</vt:lpstr>
      <vt:lpstr>INTRODUCTION</vt:lpstr>
      <vt:lpstr>PROBLEM STATEMENT</vt:lpstr>
      <vt:lpstr>EXISTING SYSTEM</vt:lpstr>
      <vt:lpstr>DISADVANTAGES</vt:lpstr>
      <vt:lpstr> PROPOSED SYSTEM</vt:lpstr>
      <vt:lpstr>ADVANTAGES</vt:lpstr>
      <vt:lpstr>SYSTEM REQUIREMENTS</vt:lpstr>
      <vt:lpstr>SOFTWARE REQUIREMENTS</vt:lpstr>
      <vt:lpstr>SYSTEM ARCHITECTURE</vt:lpstr>
      <vt:lpstr>MODULES</vt:lpstr>
      <vt:lpstr>UML DIAGRAM </vt:lpstr>
      <vt:lpstr>UML DIAGRAM </vt:lpstr>
      <vt:lpstr>UML DIAGRAM </vt:lpstr>
      <vt:lpstr>UML DIAGRAM </vt:lpstr>
      <vt:lpstr>OUTPUT SCREENSHOT  </vt:lpstr>
      <vt:lpstr>OUTPUT SCREENSHOT  </vt:lpstr>
      <vt:lpstr>OUTPUT SCREENSHOT  </vt:lpstr>
      <vt:lpstr>OUTPUT SCREENSHOT</vt:lpstr>
      <vt:lpstr>CONCLUSION </vt:lpstr>
      <vt:lpstr>FUTURE ENHANCEMENT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Poojitha .C</cp:lastModifiedBy>
  <cp:revision>146</cp:revision>
  <dcterms:created xsi:type="dcterms:W3CDTF">2006-08-16T00:00:00Z</dcterms:created>
  <dcterms:modified xsi:type="dcterms:W3CDTF">2026-03-18T12:14:01Z</dcterms:modified>
</cp:coreProperties>
</file>